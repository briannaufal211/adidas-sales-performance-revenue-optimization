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6E6E6E"/>
                </a:solidFill>
                <a:latin typeface="Arial"/>
              </a:defRPr>
            </a:pPr>
            <a:r>
              <a:rPr sz="1100" b="1" i="0" u="none" strike="noStrike">
                <a:solidFill>
                  <a:srgbClr val="6E6E6E"/>
                </a:solidFill>
                <a:latin typeface="Arial"/>
              </a:rPr>
              <a:t>Annual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($M)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2020</c:v>
                  </c:pt>
                  <c:pt idx="1">
                    <c:v>2021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182.08</c:v>
                </c:pt>
                <c:pt idx="1">
                  <c:v>717.82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B3B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6E6E6E"/>
                </a:solidFill>
                <a:latin typeface="Arial"/>
              </a:defRPr>
            </a:pPr>
            <a:r>
              <a:rPr sz="1100" b="1" i="0" u="none" strike="noStrike">
                <a:solidFill>
                  <a:srgbClr val="6E6E6E"/>
                </a:solidFill>
                <a:latin typeface="Arial"/>
              </a:rPr>
              <a:t>Product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Revenue ($M)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Men's St. Footwear</c:v>
                  </c:pt>
                  <c:pt idx="1">
                    <c:v>Women's Apparel</c:v>
                  </c:pt>
                  <c:pt idx="2">
                    <c:v>Men's Ath. Footwear</c:v>
                  </c:pt>
                  <c:pt idx="3">
                    <c:v>Women's St. Footwear</c:v>
                  </c:pt>
                  <c:pt idx="4">
                    <c:v>Men's Apparel</c:v>
                  </c:pt>
                  <c:pt idx="5">
                    <c:v>Women's Ath. Footwear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208.83</c:v>
                </c:pt>
                <c:pt idx="1">
                  <c:v>179.04</c:v>
                </c:pt>
                <c:pt idx="2">
                  <c:v>153.67</c:v>
                </c:pt>
                <c:pt idx="3">
                  <c:v>128</c:v>
                </c:pt>
                <c:pt idx="4">
                  <c:v>123.73</c:v>
                </c:pt>
                <c:pt idx="5">
                  <c:v>106.63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B3B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6E6E6E"/>
                </a:solidFill>
                <a:latin typeface="Arial"/>
              </a:defRPr>
            </a:pPr>
            <a:r>
              <a:rPr sz="1100" b="1" i="0" u="none" strike="noStrike">
                <a:solidFill>
                  <a:srgbClr val="6E6E6E"/>
                </a:solidFill>
                <a:latin typeface="Arial"/>
              </a:rPr>
              <a:t>Regional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($M)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West</c:v>
                  </c:pt>
                  <c:pt idx="1">
                    <c:v>Northeast</c:v>
                  </c:pt>
                  <c:pt idx="2">
                    <c:v>Southeast</c:v>
                  </c:pt>
                  <c:pt idx="3">
                    <c:v>South</c:v>
                  </c:pt>
                  <c:pt idx="4">
                    <c:v>Midwest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269.94</c:v>
                </c:pt>
                <c:pt idx="1">
                  <c:v>186.32</c:v>
                </c:pt>
                <c:pt idx="2">
                  <c:v>163.17</c:v>
                </c:pt>
                <c:pt idx="3">
                  <c:v>144.66</c:v>
                </c:pt>
                <c:pt idx="4">
                  <c:v>135.8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B3B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6E6E6E"/>
                </a:solidFill>
                <a:latin typeface="Arial"/>
              </a:defRPr>
            </a:pPr>
            <a:r>
              <a:rPr sz="1100" b="1" i="0" u="none" strike="noStrike">
                <a:solidFill>
                  <a:srgbClr val="6E6E6E"/>
                </a:solidFill>
                <a:latin typeface="Arial"/>
              </a:rPr>
              <a:t>Retailer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Retailer Revenue ($M)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West Gear</c:v>
                  </c:pt>
                  <c:pt idx="1">
                    <c:v>Foot Locker</c:v>
                  </c:pt>
                  <c:pt idx="2">
                    <c:v>Sports Direct</c:v>
                  </c:pt>
                  <c:pt idx="3">
                    <c:v>Kohl's</c:v>
                  </c:pt>
                  <c:pt idx="4">
                    <c:v>Amazon</c:v>
                  </c:pt>
                  <c:pt idx="5">
                    <c:v>Walmart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242.96</c:v>
                </c:pt>
                <c:pt idx="1">
                  <c:v>220.09</c:v>
                </c:pt>
                <c:pt idx="2">
                  <c:v>182.47</c:v>
                </c:pt>
                <c:pt idx="3">
                  <c:v>102.11</c:v>
                </c:pt>
                <c:pt idx="4">
                  <c:v>77.7</c:v>
                </c:pt>
                <c:pt idx="5">
                  <c:v>74.56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B3B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6E6E6E"/>
                </a:solidFill>
                <a:latin typeface="Arial"/>
              </a:defRPr>
            </a:pPr>
            <a:r>
              <a:rPr sz="1100" b="1" i="0" u="none" strike="noStrike">
                <a:solidFill>
                  <a:srgbClr val="6E6E6E"/>
                </a:solidFill>
                <a:latin typeface="Arial"/>
              </a:rPr>
              <a:t>Channel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Channel Revenue ($M)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In-store</c:v>
                  </c:pt>
                  <c:pt idx="1">
                    <c:v>Outlet</c:v>
                  </c:pt>
                  <c:pt idx="2">
                    <c:v>Online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356.64</c:v>
                </c:pt>
                <c:pt idx="1">
                  <c:v>295.59</c:v>
                </c:pt>
                <c:pt idx="2">
                  <c:v>247.67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B3B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1228"/>
            <a:ext cx="118872" cy="154534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21004" y="592074"/>
            <a:ext cx="118872" cy="243688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93369" y="502920"/>
            <a:ext cx="118872" cy="332842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31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COMMERCIAL ANALYTICS CASE STUDY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789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Revenue Optimization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427939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11064240" cy="1280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Role: Data Analyst — Sales / Commercial Analytics    ·    Public Adidas U.S. Sales Dataset (2020–2021)    ·    Analysis performed in MySQL 8.0    ·    September 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solidFill>
            <a:srgbClr val="0D0D0D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6875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public-dataset case study built to demonstrate a sales and commercial analytics workflow. It does not represent internal Adidas data, an actual Adidas business decision, or a real Adidas corporate outcome.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4160520" cy="7863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83080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$899.90M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1783080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92908"/>
            <a:ext cx="4160520" cy="7863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92908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$332.14M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2692908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OPERATING PROFIT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602736"/>
            <a:ext cx="4160520" cy="7863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02736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36.91%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51760" y="3602736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512564"/>
            <a:ext cx="4160520" cy="7863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512564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2.42M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51760" y="4512564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UNITS SOLD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422392"/>
            <a:ext cx="4160520" cy="78638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422392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$45.22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651760" y="5422392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PRICE / UNIT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236208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SUM(profit) / SUM(revenue) — weighted margin, not a row average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37760" y="1783080"/>
            <a:ext cx="6793992" cy="214884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1965960"/>
            <a:ext cx="6153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7800" y="2331720"/>
            <a:ext cx="6153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 varies materially across products, retailers, regions, and sales methods. Stakeholders need a structured, evidence-based view of where revenue comes from, whether high-revenue segments are also profitable, and which combinations deserve further investigation.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937760" y="4114800"/>
            <a:ext cx="6793992" cy="214884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4297680"/>
            <a:ext cx="6153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OBJECTIVE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4663440"/>
            <a:ext cx="6153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overall sales and profitability for 2020–2021, identify key revenue drivers across product / region / retailer / sales-method, detect high-revenue but lower-margin segments, and screen for evidence-based opportunity areas for further investigation.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5522976" cy="141732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4197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2021 growth, single-period comparison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441448"/>
            <a:ext cx="50657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rose from $182.08M (2020) to $717.82M (2021), +294.2% YoY, with margin improving from 34.81% to 37.44%. Only two years exist in the dataset — this is one comparison, not a multi-year trend.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1783080"/>
            <a:ext cx="5522976" cy="141732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189280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06056" y="1920240"/>
            <a:ext cx="4197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Men's Street Footwear leads; Men's Athletic Footwear flagged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37376" y="2441448"/>
            <a:ext cx="50657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Men's Street Footwear is the largest product ($208.83M, 23.2%) at the highest margin among top-3 products (39.65%). Men's Athletic Footwear ($153.67M) is flagged ‘High Revenue – Below Average Margin’ (33.74%).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5522976" cy="141732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5387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3566160"/>
            <a:ext cx="4197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West: largest region, lowest margin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4087368"/>
            <a:ext cx="50657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contributes 30.0% of revenue ($269.94M) but has the lowest regional margin (33.20%) among five regions — a scale-vs-profitability trade-off, not a ‘bad region’ conclusion.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08776" y="3429000"/>
            <a:ext cx="5522976" cy="141732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353872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06056" y="3566160"/>
            <a:ext cx="4197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&amp; channel trade-offs mirror the pattern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37376" y="4087368"/>
            <a:ext cx="50657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Gear leads retailer revenue ($242.96M) while Sports Direct leads retailer margin (40.74%); In-store leads channel revenue ($356.64M) while Online leads channel margin (38.99%).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74552" cy="8686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074920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508760" y="51846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product–region combinations flagged for investigation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507492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transparent screen (above-average 2021 revenue + margin + positive YoY growth) flags 8 combinations — all outside the West region, despite West's revenue dominance.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REVENUE &amp; PROFITABILITY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Profitability — Annual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6537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83080"/>
          <a:ext cx="4416552" cy="1152144"/>
        </p:xfrm>
        <a:graphic>
          <a:graphicData uri="http://schemas.openxmlformats.org/drawingml/2006/table">
            <a:tbl>
              <a:tblPr/>
              <a:tblGrid>
                <a:gridCol w="2221992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$182.08M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$717.82M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21792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operating profit both grew substantially from 2020 to 2021, with margin also improving.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3310128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3310128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2"/>
          <p:cNvSpPr/>
          <p:nvPr/>
        </p:nvSpPr>
        <p:spPr>
          <a:xfrm>
            <a:off x="3474720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474720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$182.08M → $717.82M (+294.2% YoY). Margin: 34.81% → 37.44%. Calculated with LAG() over the yearly aggregate.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6163056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9" name="Shape 15"/>
          <p:cNvSpPr/>
          <p:nvPr/>
        </p:nvSpPr>
        <p:spPr>
          <a:xfrm>
            <a:off x="6163056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327648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327648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two years of data exist, so this is a single YoY comparison, not a stable multi-year trend. The margin gain suggests growth was not purely low-margin volume expansion.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9015984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3" name="Shape 19"/>
          <p:cNvSpPr/>
          <p:nvPr/>
        </p:nvSpPr>
        <p:spPr>
          <a:xfrm>
            <a:off x="9015984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9180576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180576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which regions, products, and channels drove the 2021 increase before assuming the growth rate repeats.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457200" y="62636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05_time_analysis.sql — annual aggregation with LAG() window function.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REVENUE &amp; PROFITABILITY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Profitability — Product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6537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83080"/>
          <a:ext cx="4416552" cy="2688336"/>
        </p:xfrm>
        <a:graphic>
          <a:graphicData uri="http://schemas.openxmlformats.org/drawingml/2006/table">
            <a:tbl>
              <a:tblPr/>
              <a:tblGrid>
                <a:gridCol w="2221992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Men's St. Footwear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$208.83M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Apparel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$179.04M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Men's Ath. Footwear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$153.67M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St. Footwear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$128.00M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Men's Apparel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$123.73M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Ath. Footwear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$106.63M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21792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Men's Street Footwear leads revenue and margin among top-3 products. Men's Athletic Footwear (3rd by revenue) has the lowest margin and is flagged High Revenue / Below-Average Margin.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3310128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3310128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2"/>
          <p:cNvSpPr/>
          <p:nvPr/>
        </p:nvSpPr>
        <p:spPr>
          <a:xfrm>
            <a:off x="3474720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474720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Men's Street Footwear: $208.83M, 39.65% margin. Men's Athletic Footwear: $153.67M, 33.74% margin — flagged in 11_opportunity_analysis.sql. Revenue rank = profit rank for all 6 products.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6163056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9" name="Shape 15"/>
          <p:cNvSpPr/>
          <p:nvPr/>
        </p:nvSpPr>
        <p:spPr>
          <a:xfrm>
            <a:off x="6163056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327648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327648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and profitability align for 5 of 6 products. Men's Athletic Footwear is the one exception, where margin trails its revenue scale.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9015984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3" name="Shape 19"/>
          <p:cNvSpPr/>
          <p:nvPr/>
        </p:nvSpPr>
        <p:spPr>
          <a:xfrm>
            <a:off x="9015984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9180576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180576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into Men's Athletic Footwear by region, retailer, and sales method before any pricing or commercial discussion.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457200" y="62636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06_product_analysis.sql — product scorecard with revenue_contribution window function.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REVENUE &amp; PROFITABILITY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Profitability — Regional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6537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83080"/>
          <a:ext cx="4416552" cy="2304288"/>
        </p:xfrm>
        <a:graphic>
          <a:graphicData uri="http://schemas.openxmlformats.org/drawingml/2006/table">
            <a:tbl>
              <a:tblPr/>
              <a:tblGrid>
                <a:gridCol w="2221992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$269.94M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Northeast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$186.32M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Southeast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$163.17M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$144.66M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Midwest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$135.80M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21792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is the largest revenue region but has the lowest regional operating margin among the five regions.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3310128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3310128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2"/>
          <p:cNvSpPr/>
          <p:nvPr/>
        </p:nvSpPr>
        <p:spPr>
          <a:xfrm>
            <a:off x="3474720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474720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West: $269.94M (30.0% of total), 33.20% margin — lowest of five regions vs. a high of 42.26% in the South. Top state overall: New York, $64.23M (Northeast).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6163056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9" name="Shape 15"/>
          <p:cNvSpPr/>
          <p:nvPr/>
        </p:nvSpPr>
        <p:spPr>
          <a:xfrm>
            <a:off x="6163056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327648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327648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West is the largest region in absolute terms, even a modest margin gap represents a meaningful amount of profit. This is a scale-vs-margin trade-off, not evidence that West underperforms overall.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9015984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3" name="Shape 19"/>
          <p:cNvSpPr/>
          <p:nvPr/>
        </p:nvSpPr>
        <p:spPr>
          <a:xfrm>
            <a:off x="9015984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9180576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180576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into West by state, product, retailer, and sales method to find where the margin gap concentrates.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457200" y="62636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07_region_analysis.sql — regional and state-level scorecards.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COMMERCIAL DRIVERS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Drivers — Retailer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6537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83080"/>
          <a:ext cx="4416552" cy="2688336"/>
        </p:xfrm>
        <a:graphic>
          <a:graphicData uri="http://schemas.openxmlformats.org/drawingml/2006/table">
            <a:tbl>
              <a:tblPr/>
              <a:tblGrid>
                <a:gridCol w="2221992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 Gear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$242.96M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Foot Locker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$220.09M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Sports Direct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$182.47M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Kohl's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$102.11M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$77.70M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$74.56M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21792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Gear is the largest retailer by revenue, while Sports Direct carries the highest retailer margin on a smaller base.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3310128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3310128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2"/>
          <p:cNvSpPr/>
          <p:nvPr/>
        </p:nvSpPr>
        <p:spPr>
          <a:xfrm>
            <a:off x="3474720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474720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Gear: $242.96M (27.0% contribution), 35.26% margin. Sports Direct: $182.47M (20.3%), 40.74% margin — the highest of six retailers.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6163056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9" name="Shape 15"/>
          <p:cNvSpPr/>
          <p:nvPr/>
        </p:nvSpPr>
        <p:spPr>
          <a:xfrm>
            <a:off x="6163056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327648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327648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scale and profitability are different measures of commercial performance — the largest partner is not automatically the most profitable one.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9015984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3" name="Shape 19"/>
          <p:cNvSpPr/>
          <p:nvPr/>
        </p:nvSpPr>
        <p:spPr>
          <a:xfrm>
            <a:off x="9015984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9180576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180576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retailer × product × sales-method mix before any conversation on commercial terms or resource allocation.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457200" y="62636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08_retailer_analysis.sql — retailer scorecard; retailer × sales-method breakdown shows mix varies by partner (e.g. Sports Direct's largest channel is Outlet at 44.24% margin).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COMMERCIAL DRIVERS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Drivers — Sales Method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6537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83080"/>
          <a:ext cx="4416552" cy="1536192"/>
        </p:xfrm>
        <a:graphic>
          <a:graphicData uri="http://schemas.openxmlformats.org/drawingml/2006/table">
            <a:tbl>
              <a:tblPr/>
              <a:tblGrid>
                <a:gridCol w="2221992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Method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$356.64M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$295.59M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$247.67M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21792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generates the largest channel revenue, while Online carries the highest margin and the fastest (base-driven) YoY growth.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3310128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3310128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2"/>
          <p:cNvSpPr/>
          <p:nvPr/>
        </p:nvSpPr>
        <p:spPr>
          <a:xfrm>
            <a:off x="3474720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474720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In-store: $356.64M, 35.78% margin. Online: $247.67M, 38.99% margin, 2021 YoY +5,279.5% — driven by a very small 2020 base of $4.52M.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6163056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9" name="Shape 15"/>
          <p:cNvSpPr/>
          <p:nvPr/>
        </p:nvSpPr>
        <p:spPr>
          <a:xfrm>
            <a:off x="6163056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327648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327648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decisions should weigh scale and profitability together. The Online growth rate is real but inflated by a small starting base — not evidence Online is now the dominant channel.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9015984" y="4800600"/>
            <a:ext cx="2715768" cy="13716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3" name="Shape 19"/>
          <p:cNvSpPr/>
          <p:nvPr/>
        </p:nvSpPr>
        <p:spPr>
          <a:xfrm>
            <a:off x="9015984" y="4800600"/>
            <a:ext cx="2715768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9180576" y="4910328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180576" y="5166360"/>
            <a:ext cx="2386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product and retailer mix within each channel; treat the Online growth rate as a base-effect finding, not a forecast.</a:t>
            </a:r>
            <a:endParaRPr lang="en-US" sz="870" dirty="0"/>
          </a:p>
        </p:txBody>
      </p:sp>
      <p:sp>
        <p:nvSpPr>
          <p:cNvPr id="26" name="Text 22"/>
          <p:cNvSpPr/>
          <p:nvPr/>
        </p:nvSpPr>
        <p:spPr>
          <a:xfrm>
            <a:off x="457200" y="626364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09_sales_method_analysis.sql — channel scorecard and YoY growth via LAG().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OPPORTUNITY AREAS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Areas — Product × Region Screen (2021)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screen is a transparent screening rule, not a ‘best segment’ score. It flags 2021 product–region combinations with above-average revenue, above-average margin, AND positive YoY growth. A flag means the combination deserves a closer look — not proof it caused strong performance.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691640"/>
                <a:gridCol w="1371600"/>
                <a:gridCol w="1627632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 Growth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Men's Street Footwear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Northeast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$42.58M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40.29%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+404.0%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Men's Street Footwear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Midwest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$35.82M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+1,333.7%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Apparel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Northeast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$29.53M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38.79%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+268.3%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Men's Street Footwear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Southeast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$29.08M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39.53%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+319.0%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Apparel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Midwest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$26.73M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43.61%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+1,710.9%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Apparel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Southeast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$25.20M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42.51%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Women's Apparel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$24.64M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49.31%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+395.5%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Men's Street Footwear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$24.21M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41.34%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+471.3%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50" kern="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257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8 flagged combinations sit outside the West region — West's own combinations fell into ‘Monitor / Diagnose’ because, despite large revenue, their 2021 growth rates were comparatively modest against the screen's benchmark. At the product level, Men's Athletic Footwear is separately flagged ‘High Revenue – Below Average Margin.’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5742432"/>
            <a:ext cx="11274552" cy="42062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5742432"/>
            <a:ext cx="10789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ACTION:  Treat these 8 combinations as a shortlist for further investigation — validate underlying state, retailer, and sales-method mix behind each before drawing any commercial conclusion.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227064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Reminder: this is a screening rule for investigation, not a predictive or causal claim about future performance.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6409944"/>
            <a:ext cx="11274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11_opportunity_analysis.sql — product × region 2021 screen (above-average revenue AND margin AND positive YoY growth).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4515"/>
            <a:ext cx="65837" cy="85588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52663" y="415138"/>
            <a:ext cx="65837" cy="134965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648127" y="365760"/>
            <a:ext cx="65837" cy="184343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DATA QUALITY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2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Limitations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16459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2681478" cy="42976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2681478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&amp; CLEANING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315718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file: 9,652 rows. 4 fully blank rows excluded → analytical population of 9,648 (confirmed in 10_price_volume_quality.sql).</a:t>
            </a:r>
            <a:endParaRPr lang="en-US" sz="9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‘Unnamed: 13’ helper column was entirely empty and unused.</a:t>
            </a:r>
            <a:endParaRPr lang="en-US" sz="9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fields were stored as text with mixed punctuation and required explicit parsing.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21558" y="1783080"/>
            <a:ext cx="2681478" cy="42976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3" name="Shape 11"/>
          <p:cNvSpPr/>
          <p:nvPr/>
        </p:nvSpPr>
        <p:spPr>
          <a:xfrm>
            <a:off x="3321558" y="1783080"/>
            <a:ext cx="2681478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504438" y="196596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&amp; CONSISTENCY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04438" y="2560320"/>
            <a:ext cx="2315718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Supplied Operating Margin validated against Profit ÷ Sales — the two agree closely.</a:t>
            </a:r>
            <a:endParaRPr lang="en-US" sz="9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reconciles exactly to $899.90M whether summed by year, product, region, retailer, or channel.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85916" y="1783080"/>
            <a:ext cx="2681478" cy="42976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5916" y="1783080"/>
            <a:ext cx="2681478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196596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ANOMALY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68796" y="2560320"/>
            <a:ext cx="2315718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is not on one consistent scale; Price × Units Sold does not reliably reconstruct Total Sales.</a:t>
            </a:r>
            <a:endParaRPr lang="en-US" sz="9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3,886 of 9,648 records (≈40.3%) show a difference greater than $1 between Total Sales and Price × Units.</a:t>
            </a:r>
            <a:endParaRPr lang="en-US" sz="9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Units Sold and Avg. Price are treated as descriptive only — never used to reconstruct revenue.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50274" y="1783080"/>
            <a:ext cx="2681478" cy="429768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21" name="Shape 19"/>
          <p:cNvSpPr/>
          <p:nvPr/>
        </p:nvSpPr>
        <p:spPr>
          <a:xfrm>
            <a:off x="9050274" y="1783080"/>
            <a:ext cx="2681478" cy="45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9233154" y="1965960"/>
            <a:ext cx="231571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LIMITS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33154" y="2560320"/>
            <a:ext cx="2315718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2020–2021 exist; every YoY figure is a single two-point comparison, not a multi-year trend.</a:t>
            </a:r>
            <a:endParaRPr lang="en-US" sz="9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case-study dataset — not evidence of real Adidas strategy, decisions, or outcomes. No causal claims are made.</a:t>
            </a:r>
            <a:endParaRPr lang="en-US" sz="900" dirty="0"/>
          </a:p>
          <a:p>
            <a:pPr marL="152400" indent="-152400">
              <a:lnSpc>
                <a:spcPct val="120000"/>
              </a:lnSpc>
              <a:spcAft>
                <a:spcPts val="1000"/>
              </a:spcAft>
              <a:buSzPct val="100000"/>
              <a:buChar char="■"/>
            </a:pPr>
            <a:r>
              <a:rPr lang="en-US" sz="9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screen is a screening rule, not a predictive model.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9601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ADIDAS SALES PERFORMANCE &amp; REVENUE OPTIMIZATION  ·  SALES &amp; COMMERCIAL ANALYTICS CASE STUDY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457432" y="65471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91440" cy="118872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1228" y="571500"/>
            <a:ext cx="91440" cy="187452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" y="502920"/>
            <a:ext cx="91440" cy="256032"/>
          </a:xfrm>
          <a:prstGeom prst="parallelogram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51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Note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937760" y="333756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1984248" y="3611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operating profit, and operating margin are internally consistent and well validated across every cut used in this analysis. Units Sold, price-based volume claims, and single-year growth percentages should be read as descriptive and directional rather than definitive. Every recommendation in this deck is framed as an area for further investigation — not a final business decision.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as a public-dataset portfolio case study  ·  Data Analyst — Sales / Commercial Analytics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2026-09-20T09:17:12Z</dcterms:created>
  <dcterms:modified xsi:type="dcterms:W3CDTF">2026-09-20T09:17:12Z</dcterms:modified>
</cp:coreProperties>
</file>